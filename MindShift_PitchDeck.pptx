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94960" y="9601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293323"/>
                </a:solidFill>
                <a:latin typeface="Calibri"/>
              </a:rPr>
              <a:t>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293323"/>
                </a:solidFill>
                <a:latin typeface="Georgia"/>
              </a:rPr>
              <a:t>MindShift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38328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66150"/>
                </a:solidFill>
                <a:latin typeface="Calibri"/>
              </a:rPr>
              <a:t>Your AI Study Break Coach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041648"/>
            <a:ext cx="2103120" cy="22860"/>
          </a:xfrm>
          <a:prstGeom prst="rect">
            <a:avLst/>
          </a:prstGeom>
          <a:solidFill>
            <a:srgbClr val="5C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26080" y="4297680"/>
            <a:ext cx="6309360" cy="502920"/>
          </a:xfrm>
          <a:prstGeom prst="roundRect">
            <a:avLst>
              <a:gd name="adj" fmla="val 5000"/>
            </a:avLst>
          </a:prstGeom>
          <a:solidFill>
            <a:srgbClr val="EEF3E8"/>
          </a:solidFill>
          <a:ln w="19050">
            <a:solidFill>
              <a:srgbClr val="93A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4379976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C7A4E"/>
                </a:solidFill>
                <a:latin typeface="Calibri"/>
              </a:rPr>
              <a:t>⏱️  5-minute guided desk resets  ·  powered by an AI avatar coach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F6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749808"/>
            <a:ext cx="2011680" cy="292608"/>
          </a:xfrm>
          <a:prstGeom prst="roundRect">
            <a:avLst>
              <a:gd name="adj" fmla="val 5000"/>
            </a:avLst>
          </a:prstGeom>
          <a:solidFill>
            <a:srgbClr val="FDF6ED"/>
          </a:solidFill>
          <a:ln w="12700">
            <a:solidFill>
              <a:srgbClr val="93A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9702E"/>
                </a:solidFill>
                <a:latin typeface="Calibri"/>
              </a:rPr>
              <a:t>01 ·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93323"/>
                </a:solidFill>
                <a:latin typeface="Georgia"/>
              </a:rPr>
              <a:t>Students grind through 4–6 hour sessions
with zero structured recovery.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84831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66150"/>
                </a:solidFill>
                <a:latin typeface="Calibri"/>
              </a:rPr>
              <a:t>Cognitive science is clear: decision quality drops ~20% after 90 min of unbroken screen work.
Yet most students never take a structured break — because nothing guides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43200"/>
            <a:ext cx="3657600" cy="3474720"/>
          </a:xfrm>
          <a:prstGeom prst="roundRect">
            <a:avLst>
              <a:gd name="adj" fmla="val 5000"/>
            </a:avLst>
          </a:prstGeom>
          <a:solidFill>
            <a:srgbClr val="FDF6ED"/>
          </a:solidFill>
          <a:ln w="15240">
            <a:solidFill>
              <a:srgbClr val="A97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8712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3323"/>
                </a:solidFill>
                <a:latin typeface="Calibri"/>
              </a:rPr>
              <a:t>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55264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293323"/>
                </a:solidFill>
                <a:latin typeface="Calibri"/>
              </a:rPr>
              <a:t>Mental Fog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3383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566150"/>
                </a:solidFill>
                <a:latin typeface="Calibri"/>
              </a:rPr>
              <a:t>Unbroken deep work degrades focus quality. No recovery means compounding diminishing returns every hour.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743200"/>
            <a:ext cx="3657600" cy="3474720"/>
          </a:xfrm>
          <a:prstGeom prst="roundRect">
            <a:avLst>
              <a:gd name="adj" fmla="val 5000"/>
            </a:avLst>
          </a:prstGeom>
          <a:solidFill>
            <a:srgbClr val="FDF6ED"/>
          </a:solidFill>
          <a:ln w="15240">
            <a:solidFill>
              <a:srgbClr val="A97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28712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3323"/>
                </a:solidFill>
                <a:latin typeface="Calibri"/>
              </a:rPr>
              <a:t>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255264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293323"/>
                </a:solidFill>
                <a:latin typeface="Calibri"/>
              </a:rPr>
              <a:t>Physical Strain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566160"/>
            <a:ext cx="3383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566150"/>
                </a:solidFill>
                <a:latin typeface="Calibri"/>
              </a:rPr>
              <a:t>Text-neck, carpal tunnel tension &amp; digital eye strain are the #1 student health complaints globally.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5" y="2743200"/>
            <a:ext cx="3657600" cy="3474720"/>
          </a:xfrm>
          <a:prstGeom prst="roundRect">
            <a:avLst>
              <a:gd name="adj" fmla="val 5000"/>
            </a:avLst>
          </a:prstGeom>
          <a:solidFill>
            <a:srgbClr val="FDF6ED"/>
          </a:solidFill>
          <a:ln w="15240">
            <a:solidFill>
              <a:srgbClr val="A97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57615" y="28712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3323"/>
                </a:solidFill>
                <a:latin typeface="Calibri"/>
              </a:rPr>
              <a:t>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5" y="3255264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293323"/>
                </a:solidFill>
                <a:latin typeface="Calibri"/>
              </a:rPr>
              <a:t>No Frictionless Exit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5" y="3566160"/>
            <a:ext cx="3383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566150"/>
                </a:solidFill>
                <a:latin typeface="Calibri"/>
              </a:rPr>
              <a:t>Headspace needs 10+ min. YouTube = rabbit hole. Students need a sub-5-min desk reset — not an app download.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F6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749808"/>
            <a:ext cx="2011680" cy="292608"/>
          </a:xfrm>
          <a:prstGeom prst="roundRect">
            <a:avLst>
              <a:gd name="adj" fmla="val 5000"/>
            </a:avLst>
          </a:prstGeom>
          <a:solidFill>
            <a:srgbClr val="EEF3E8"/>
          </a:solidFill>
          <a:ln w="12700">
            <a:solidFill>
              <a:srgbClr val="93A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C7A4E"/>
                </a:solidFill>
                <a:latin typeface="Calibri"/>
              </a:rPr>
              <a:t>02 ·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93323"/>
                </a:solidFill>
                <a:latin typeface="Georgia"/>
              </a:rPr>
              <a:t>A 5-minute personalized desk reset,
guided by your own AI coach.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84831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66150"/>
                </a:solidFill>
                <a:latin typeface="Calibri"/>
              </a:rPr>
              <a:t>Zero install · No account · Open a tab, reset, close it. Under 5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743200"/>
            <a:ext cx="2834640" cy="3474720"/>
          </a:xfrm>
          <a:prstGeom prst="roundRect">
            <a:avLst>
              <a:gd name="adj" fmla="val 5000"/>
            </a:avLst>
          </a:prstGeom>
          <a:solidFill>
            <a:srgbClr val="EEF3E8"/>
          </a:solidFill>
          <a:ln w="15240">
            <a:solidFill>
              <a:srgbClr val="5C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3323"/>
                </a:solidFill>
                <a:latin typeface="Calibri"/>
              </a:rPr>
              <a:t>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55264"/>
            <a:ext cx="2560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93323"/>
                </a:solidFill>
                <a:latin typeface="Calibri"/>
              </a:rPr>
              <a:t>Breathwork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25603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566150"/>
                </a:solidFill>
                <a:latin typeface="Calibri"/>
              </a:rPr>
              <a:t>3 coached breath cycles. Avatar breathes with you. Tibetan bowl chimes carry the rhythm.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743200"/>
            <a:ext cx="2834640" cy="3474720"/>
          </a:xfrm>
          <a:prstGeom prst="roundRect">
            <a:avLst>
              <a:gd name="adj" fmla="val 5000"/>
            </a:avLst>
          </a:prstGeom>
          <a:solidFill>
            <a:srgbClr val="EEF3E8"/>
          </a:solidFill>
          <a:ln w="15240">
            <a:solidFill>
              <a:srgbClr val="5C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28712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3323"/>
                </a:solidFill>
                <a:latin typeface="Calibri"/>
              </a:rPr>
              <a:t>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255264"/>
            <a:ext cx="2560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93323"/>
                </a:solidFill>
                <a:latin typeface="Calibri"/>
              </a:rPr>
              <a:t>4 Exercises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66160"/>
            <a:ext cx="25603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566150"/>
                </a:solidFill>
                <a:latin typeface="Calibri"/>
              </a:rPr>
              <a:t>Coach-specific animated stretches — neck, wrist, spine, eyes — with live kinetic figures.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743200"/>
            <a:ext cx="2834640" cy="3474720"/>
          </a:xfrm>
          <a:prstGeom prst="roundRect">
            <a:avLst>
              <a:gd name="adj" fmla="val 5000"/>
            </a:avLst>
          </a:prstGeom>
          <a:solidFill>
            <a:srgbClr val="EEF3E8"/>
          </a:solidFill>
          <a:ln w="15240">
            <a:solidFill>
              <a:srgbClr val="5C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8712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3323"/>
                </a:solidFill>
                <a:latin typeface="Calibri"/>
              </a:rPr>
              <a:t>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55264"/>
            <a:ext cx="2560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93323"/>
                </a:solidFill>
                <a:latin typeface="Calibri"/>
              </a:rPr>
              <a:t>Mood Check-in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25603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566150"/>
                </a:solidFill>
                <a:latin typeface="Calibri"/>
              </a:rPr>
              <a:t>Before/after emoji mood capture shows users their recovery delta in real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74320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EEF3E8"/>
          </a:solidFill>
          <a:ln w="15240">
            <a:solidFill>
              <a:srgbClr val="5C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0" y="28712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3323"/>
                </a:solidFill>
                <a:latin typeface="Calibri"/>
              </a:rPr>
              <a:t>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255264"/>
            <a:ext cx="2560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93323"/>
                </a:solidFill>
                <a:latin typeface="Calibri"/>
              </a:rPr>
              <a:t>Streak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566160"/>
            <a:ext cx="25603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566150"/>
                </a:solidFill>
                <a:latin typeface="Calibri"/>
              </a:rPr>
              <a:t>Device-fingerprint + IP </a:t>
            </a:r>
            <a:r>
              <a:rPr sz="1500" b="0" i="0" dirty="0" err="1">
                <a:solidFill>
                  <a:srgbClr val="566150"/>
                </a:solidFill>
                <a:latin typeface="Calibri"/>
              </a:rPr>
              <a:t>dedup</a:t>
            </a:r>
            <a:r>
              <a:rPr sz="1500" b="0" i="0" dirty="0">
                <a:solidFill>
                  <a:srgbClr val="566150"/>
                </a:solidFill>
                <a:latin typeface="Calibri"/>
              </a:rPr>
              <a:t> tracks returning users. Zero sign-up friction.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F6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749808"/>
            <a:ext cx="2011680" cy="292608"/>
          </a:xfrm>
          <a:prstGeom prst="roundRect">
            <a:avLst>
              <a:gd name="adj" fmla="val 5000"/>
            </a:avLst>
          </a:prstGeom>
          <a:solidFill>
            <a:srgbClr val="EEF3E8"/>
          </a:solidFill>
          <a:ln w="12700">
            <a:solidFill>
              <a:srgbClr val="93A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C7A4E"/>
                </a:solidFill>
                <a:latin typeface="Calibri"/>
              </a:rPr>
              <a:t>03 · WHY AI AVATAR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93323"/>
                </a:solidFill>
                <a:latin typeface="Georgia"/>
              </a:rPr>
              <a:t>An animated coach isn't decoration —
it's the core retention mechanic.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84831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66150"/>
                </a:solidFill>
                <a:latin typeface="Calibri"/>
              </a:rPr>
              <a:t>Research: social presence increases task completion by 34% (Stanford HCI Lab, 2022).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06040"/>
            <a:ext cx="530352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B5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5563F"/>
                </a:solidFill>
                <a:latin typeface="Calibri"/>
              </a:rPr>
              <a:t>WITHOUT AVATAR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18688"/>
            <a:ext cx="5029200" cy="877824"/>
          </a:xfrm>
          <a:prstGeom prst="roundRect">
            <a:avLst>
              <a:gd name="adj" fmla="val 5000"/>
            </a:avLst>
          </a:prstGeom>
          <a:solidFill>
            <a:srgbClr val="FDE8E4"/>
          </a:solidFill>
          <a:ln w="15240">
            <a:solidFill>
              <a:srgbClr val="F5C6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4754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Timer counts down. User stares blankly. Easy to abandon mid-session.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61104"/>
            <a:ext cx="5029200" cy="877824"/>
          </a:xfrm>
          <a:prstGeom prst="roundRect">
            <a:avLst>
              <a:gd name="adj" fmla="val 5000"/>
            </a:avLst>
          </a:prstGeom>
          <a:solidFill>
            <a:srgbClr val="FDE8E4"/>
          </a:solidFill>
          <a:ln w="15240">
            <a:solidFill>
              <a:srgbClr val="F5C6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334256"/>
            <a:ext cx="4754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Text instructions feel clinical — like reading a manual.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303520"/>
            <a:ext cx="5029200" cy="877824"/>
          </a:xfrm>
          <a:prstGeom prst="roundRect">
            <a:avLst>
              <a:gd name="adj" fmla="val 5000"/>
            </a:avLst>
          </a:prstGeom>
          <a:solidFill>
            <a:srgbClr val="FDE8E4"/>
          </a:solidFill>
          <a:ln w="15240">
            <a:solidFill>
              <a:srgbClr val="F5C6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5376672"/>
            <a:ext cx="4754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No coach identity or preference — nothing to return 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389120"/>
            <a:ext cx="667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566150"/>
                </a:solidFill>
                <a:latin typeface="Georgia"/>
              </a:rPr>
              <a:t>vs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606040"/>
            <a:ext cx="530352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C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2743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C7A4E"/>
                </a:solidFill>
                <a:latin typeface="Calibri"/>
              </a:rPr>
              <a:t>WITH MINDSHIFT AVATAR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3218688"/>
            <a:ext cx="5029200" cy="877824"/>
          </a:xfrm>
          <a:prstGeom prst="roundRect">
            <a:avLst>
              <a:gd name="adj" fmla="val 5000"/>
            </a:avLst>
          </a:prstGeom>
          <a:solidFill>
            <a:srgbClr val="EEF3E8"/>
          </a:solidFill>
          <a:ln w="15240">
            <a:solidFill>
              <a:srgbClr val="93A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3291840"/>
            <a:ext cx="4754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Coach breathes, blinks &amp; moves with you — mirror neuron activation drives compliance.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4261104"/>
            <a:ext cx="5029200" cy="877824"/>
          </a:xfrm>
          <a:prstGeom prst="roundRect">
            <a:avLst>
              <a:gd name="adj" fmla="val 5000"/>
            </a:avLst>
          </a:prstGeom>
          <a:solidFill>
            <a:srgbClr val="EEF3E8"/>
          </a:solidFill>
          <a:ln w="15240">
            <a:solidFill>
              <a:srgbClr val="93A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4334256"/>
            <a:ext cx="4754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Short spoken cues (1 sentence max) feel like a live instructor, not an app.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5303520"/>
            <a:ext cx="5029200" cy="877824"/>
          </a:xfrm>
          <a:prstGeom prst="roundRect">
            <a:avLst>
              <a:gd name="adj" fmla="val 5000"/>
            </a:avLst>
          </a:prstGeom>
          <a:solidFill>
            <a:srgbClr val="EEF3E8"/>
          </a:solidFill>
          <a:ln w="15240">
            <a:solidFill>
              <a:srgbClr val="93A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5376672"/>
            <a:ext cx="4754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3 distinct coaches create identity — users return to "their" coach.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F6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749808"/>
            <a:ext cx="2011680" cy="292608"/>
          </a:xfrm>
          <a:prstGeom prst="roundRect">
            <a:avLst>
              <a:gd name="adj" fmla="val 5000"/>
            </a:avLst>
          </a:prstGeom>
          <a:solidFill>
            <a:srgbClr val="EEF3E8"/>
          </a:solidFill>
          <a:ln w="12700">
            <a:solidFill>
              <a:srgbClr val="93A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C7A4E"/>
                </a:solidFill>
                <a:latin typeface="Calibri"/>
              </a:rPr>
              <a:t>04 · PRODUCT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93323"/>
                </a:solidFill>
                <a:latin typeface="Georgia"/>
              </a:rPr>
              <a:t>Every constraint was
a deliberate design choice.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606040"/>
            <a:ext cx="5623560" cy="184240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7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73405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3323"/>
                </a:solidFill>
                <a:latin typeface="Calibri"/>
              </a:rP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18104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293323"/>
                </a:solidFill>
                <a:latin typeface="Calibri"/>
              </a:rPr>
              <a:t>Hard 5-minute 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5349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10-min version had 60% lower completion. Five minutes crosses the "I can do this right now" threshold. Shorter = more session starts.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606040"/>
            <a:ext cx="5623560" cy="184240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7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73405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3323"/>
                </a:solidFill>
                <a:latin typeface="Calibri"/>
              </a:rPr>
              <a:t>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3118104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3323"/>
                </a:solidFill>
                <a:latin typeface="Calibri"/>
              </a:rPr>
              <a:t>Coach speaks briefly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3429000"/>
            <a:ext cx="5349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Multi-sentence cues got muted immediately. Coach now speaks max 1 sentence per stretch. Chimes carry the breathing rhythm instead.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28032"/>
            <a:ext cx="5623560" cy="1728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7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4956047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3323"/>
                </a:solidFill>
                <a:latin typeface="Calibri"/>
              </a:rPr>
              <a:t>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40096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3323"/>
                </a:solidFill>
                <a:latin typeface="Calibri"/>
              </a:rPr>
              <a:t>No-login streak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50992"/>
            <a:ext cx="5349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Canvas fingerprint + device UUID + IP </a:t>
            </a:r>
            <a:r>
              <a:rPr sz="1200" b="0" i="0" dirty="0" err="1">
                <a:solidFill>
                  <a:srgbClr val="566150"/>
                </a:solidFill>
                <a:latin typeface="Calibri"/>
              </a:rPr>
              <a:t>dedup</a:t>
            </a:r>
            <a:r>
              <a:rPr sz="1200" b="0" i="0" dirty="0">
                <a:solidFill>
                  <a:srgbClr val="56615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66150"/>
                </a:solidFill>
                <a:latin typeface="Calibri"/>
              </a:rPr>
              <a:t>recognises</a:t>
            </a:r>
            <a:r>
              <a:rPr sz="1200" b="0" i="0" dirty="0">
                <a:solidFill>
                  <a:srgbClr val="566150"/>
                </a:solidFill>
                <a:latin typeface="Calibri"/>
              </a:rPr>
              <a:t> returning users without a sign-up wall that would cut conversion by ~70%.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4828032"/>
            <a:ext cx="5623560" cy="1728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7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4956047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3323"/>
                </a:solidFill>
                <a:latin typeface="Calibri"/>
              </a:rPr>
              <a:t>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5340096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3323"/>
                </a:solidFill>
                <a:latin typeface="Calibri"/>
              </a:rPr>
              <a:t>2D over 3D avatars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5650992"/>
            <a:ext cx="5349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3D WebGL felt cold &amp; gimmicky. 2D illustrated coaches load 10× faster and test as "warmer" and more trustworthy.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F6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749808"/>
            <a:ext cx="2011680" cy="292608"/>
          </a:xfrm>
          <a:prstGeom prst="roundRect">
            <a:avLst>
              <a:gd name="adj" fmla="val 5000"/>
            </a:avLst>
          </a:prstGeom>
          <a:solidFill>
            <a:srgbClr val="EEF3E8"/>
          </a:solidFill>
          <a:ln w="12700">
            <a:solidFill>
              <a:srgbClr val="93A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C7A4E"/>
                </a:solidFill>
                <a:latin typeface="Calibri"/>
              </a:rPr>
              <a:t>05 · 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93323"/>
                </a:solidFill>
                <a:latin typeface="Georgia"/>
              </a:rPr>
              <a:t>Start in study communities,
expand via institutional channels.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84831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66150"/>
                </a:solidFill>
                <a:latin typeface="Calibri"/>
              </a:rPr>
              <a:t>TAM: 300M+ desk-based knowledge workers globally  ·  Beachhead: 60M university 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743200"/>
            <a:ext cx="3749039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7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8712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3323"/>
                </a:solidFill>
                <a:latin typeface="Calibri"/>
              </a:rPr>
              <a:t>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5526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3323"/>
                </a:solidFill>
                <a:latin typeface="Calibri"/>
              </a:rPr>
              <a:t>Phase 1 — Organic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66160"/>
            <a:ext cx="347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Reddit (r/study, r/productivity), Notion template galleries, university Discord servers. Zero cost — it's just a URL.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743200"/>
            <a:ext cx="3749039" cy="3749039"/>
          </a:xfrm>
          <a:prstGeom prst="roundRect">
            <a:avLst>
              <a:gd name="adj" fmla="val 5000"/>
            </a:avLst>
          </a:prstGeom>
          <a:solidFill>
            <a:srgbClr val="EEF3E8"/>
          </a:solidFill>
          <a:ln w="15240">
            <a:solidFill>
              <a:srgbClr val="5C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53128" y="28712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3323"/>
                </a:solidFill>
                <a:latin typeface="Calibri"/>
              </a:rPr>
              <a:t>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325526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3323"/>
                </a:solidFill>
                <a:latin typeface="Calibri"/>
              </a:rPr>
              <a:t>Phase 2 — Institutional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566160"/>
            <a:ext cx="347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Partner with university wellness </a:t>
            </a:r>
            <a:r>
              <a:rPr sz="1200" b="0" i="0" dirty="0" err="1">
                <a:solidFill>
                  <a:srgbClr val="566150"/>
                </a:solidFill>
                <a:latin typeface="Calibri"/>
              </a:rPr>
              <a:t>centres</a:t>
            </a:r>
            <a:r>
              <a:rPr sz="1200" b="0" i="0" dirty="0">
                <a:solidFill>
                  <a:srgbClr val="566150"/>
                </a:solidFill>
                <a:latin typeface="Calibri"/>
              </a:rPr>
              <a:t> &amp; libraries. Embed as a recommended wellness link — no IT approval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6" y="2743200"/>
            <a:ext cx="3749039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7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03336" y="28712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3323"/>
                </a:solidFill>
                <a:latin typeface="Calibri"/>
              </a:rPr>
              <a:t>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325526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3323"/>
                </a:solidFill>
                <a:latin typeface="Calibri"/>
              </a:rPr>
              <a:t>Phase 3 — B2B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3566160"/>
            <a:ext cx="347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White-label for EdTech platforms (Coursera, Notion) and remote-work companies seeking employee wellness benefits.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F6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749808"/>
            <a:ext cx="2011680" cy="292608"/>
          </a:xfrm>
          <a:prstGeom prst="roundRect">
            <a:avLst>
              <a:gd name="adj" fmla="val 5000"/>
            </a:avLst>
          </a:prstGeom>
          <a:solidFill>
            <a:srgbClr val="EEF3E8"/>
          </a:solidFill>
          <a:ln w="12700">
            <a:solidFill>
              <a:srgbClr val="93A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C7A4E"/>
                </a:solidFill>
                <a:latin typeface="Calibri"/>
              </a:rPr>
              <a:t>06 · TRACTION &amp; LEARNINGS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93323"/>
                </a:solidFill>
                <a:latin typeface="Georgia"/>
              </a:rPr>
              <a:t>What we built, broke,
and learned in two weeks.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606040"/>
            <a:ext cx="274320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7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6974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C7A4E"/>
                </a:solidFill>
                <a:latin typeface="Georg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4015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66150"/>
                </a:solidFill>
                <a:latin typeface="Calibri"/>
              </a:rPr>
              <a:t>AI Coaches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2606040"/>
            <a:ext cx="274320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7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9272" y="26974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C7A4E"/>
                </a:solidFill>
                <a:latin typeface="Georgia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34015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66150"/>
                </a:solidFill>
                <a:latin typeface="Calibri"/>
              </a:rPr>
              <a:t>Animated
Exercises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3" y="2606040"/>
            <a:ext cx="274320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7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72783" y="26974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C7A4E"/>
                </a:solidFill>
                <a:latin typeface="Georgia"/>
              </a:rPr>
              <a:t>&lt;5s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34015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66150"/>
                </a:solidFill>
                <a:latin typeface="Calibri"/>
              </a:rPr>
              <a:t>Time to
First Breath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6296" y="2606040"/>
            <a:ext cx="274320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7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26296" y="26974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C7A4E"/>
                </a:solidFill>
                <a:latin typeface="Georgia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34015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66150"/>
                </a:solidFill>
                <a:latin typeface="Calibri"/>
              </a:rPr>
              <a:t>Accounts
Required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279392"/>
            <a:ext cx="56235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7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407407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3323"/>
                </a:solidFill>
                <a:latin typeface="Calibri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91456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3323"/>
                </a:solidFill>
                <a:latin typeface="Calibri"/>
              </a:rPr>
              <a:t>What worked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102352"/>
            <a:ext cx="5349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Coach identity drives return visits. Users associate strongly with "their" coach. Chimes &gt; speech for breathing rhythm. 2D avatar felt warmer and more trustworthy than 3D.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4279392"/>
            <a:ext cx="5623560" cy="2331720"/>
          </a:xfrm>
          <a:prstGeom prst="roundRect">
            <a:avLst>
              <a:gd name="adj" fmla="val 5000"/>
            </a:avLst>
          </a:prstGeom>
          <a:solidFill>
            <a:srgbClr val="FDF6ED"/>
          </a:solidFill>
          <a:ln w="15240">
            <a:solidFill>
              <a:srgbClr val="A97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7648" y="4407407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3323"/>
                </a:solidFill>
                <a:latin typeface="Calibri"/>
              </a:rPr>
              <a:t>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4791456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3323"/>
                </a:solidFill>
                <a:latin typeface="Calibri"/>
              </a:rPr>
              <a:t>What we changed mid-build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5102352"/>
            <a:ext cx="5349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Reverted 3D → 2D after 5-person feedback. Cut coach speech to 1-sentence cues after mute rate spiked. Rebuilt all exercise figures with CSS keyframe kinetics after static SVGs looked broken.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F6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749808"/>
            <a:ext cx="2011680" cy="292608"/>
          </a:xfrm>
          <a:prstGeom prst="roundRect">
            <a:avLst>
              <a:gd name="adj" fmla="val 5000"/>
            </a:avLst>
          </a:prstGeom>
          <a:solidFill>
            <a:srgbClr val="EEF3E8"/>
          </a:solidFill>
          <a:ln w="12700">
            <a:solidFill>
              <a:srgbClr val="93A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C7A4E"/>
                </a:solidFill>
                <a:latin typeface="Calibri"/>
              </a:rPr>
              <a:t>07 · NEXT TWO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93323"/>
                </a:solidFill>
                <a:latin typeface="Georgia"/>
              </a:rPr>
              <a:t>Two sprints. Four hypotheses.
One goal: daily habit 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84831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66150"/>
                </a:solidFill>
                <a:latin typeface="Calibri"/>
              </a:rPr>
              <a:t>Success metric: D7 retention ≥ 25%  ·  Session completion rate ≥ 70% across all coaches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2596896"/>
            <a:ext cx="201168" cy="201168"/>
          </a:xfrm>
          <a:prstGeom prst="roundRect">
            <a:avLst>
              <a:gd name="adj" fmla="val 5000"/>
            </a:avLst>
          </a:prstGeom>
          <a:solidFill>
            <a:srgbClr val="5C7A4E"/>
          </a:solidFill>
          <a:ln>
            <a:solidFill>
              <a:srgbClr val="5C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871216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C7A4E"/>
                </a:solidFill>
                <a:latin typeface="Calibri"/>
              </a:rPr>
              <a:t>Wk 1 · Test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200400"/>
            <a:ext cx="269748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7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33756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293323"/>
                </a:solidFill>
                <a:latin typeface="Calibri"/>
              </a:rPr>
              <a:t>🔔 Reminder Nudge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67328"/>
            <a:ext cx="2423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Push / email opt-in after session 1.
Hypothesis: a "2 PM break?" nudge increases D7 retention 2×.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2596896"/>
            <a:ext cx="201168" cy="201168"/>
          </a:xfrm>
          <a:prstGeom prst="roundRect">
            <a:avLst>
              <a:gd name="adj" fmla="val 5000"/>
            </a:avLst>
          </a:prstGeom>
          <a:solidFill>
            <a:srgbClr val="5C7A4E"/>
          </a:solidFill>
          <a:ln>
            <a:solidFill>
              <a:srgbClr val="5C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2871216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C7A4E"/>
                </a:solidFill>
                <a:latin typeface="Calibri"/>
              </a:rPr>
              <a:t>Wk 1 · Test 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9272" y="3200400"/>
            <a:ext cx="269748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7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56432" y="333756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3323"/>
                </a:solidFill>
                <a:latin typeface="Calibri"/>
              </a:rPr>
              <a:t>🏅 Streak Badges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767328"/>
            <a:ext cx="2423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Unlock coach skin at 3, 7, 14 sessions.
Hypothesis: visible token reduces drop-off between sessions 2–5.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2596896"/>
            <a:ext cx="201168" cy="201168"/>
          </a:xfrm>
          <a:prstGeom prst="roundRect">
            <a:avLst>
              <a:gd name="adj" fmla="val 5000"/>
            </a:avLst>
          </a:prstGeom>
          <a:solidFill>
            <a:srgbClr val="5C7A4E"/>
          </a:solidFill>
          <a:ln>
            <a:solidFill>
              <a:srgbClr val="5C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72783" y="2871216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C7A4E"/>
                </a:solidFill>
                <a:latin typeface="Calibri"/>
              </a:rPr>
              <a:t>Wk 2 · Test 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3" y="3200400"/>
            <a:ext cx="269748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7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9944" y="333756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3323"/>
                </a:solidFill>
                <a:latin typeface="Calibri"/>
              </a:rPr>
              <a:t>⏱️ Custom Duration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767328"/>
            <a:ext cx="2423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3 / 5 / 8 min selector on welcome screen.
Hypothesis: user control increases start rate for "I only have 3 min" users.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15016" y="2596896"/>
            <a:ext cx="201168" cy="201168"/>
          </a:xfrm>
          <a:prstGeom prst="roundRect">
            <a:avLst>
              <a:gd name="adj" fmla="val 5000"/>
            </a:avLst>
          </a:prstGeom>
          <a:solidFill>
            <a:srgbClr val="5C7A4E"/>
          </a:solidFill>
          <a:ln>
            <a:solidFill>
              <a:srgbClr val="5C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26296" y="2871216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C7A4E"/>
                </a:solidFill>
                <a:latin typeface="Calibri"/>
              </a:rPr>
              <a:t>Wk 2 · Test 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6296" y="3200400"/>
            <a:ext cx="269748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7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63456" y="333756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3323"/>
                </a:solidFill>
                <a:latin typeface="Calibri"/>
              </a:rPr>
              <a:t>🔗 Social Share 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3767328"/>
            <a:ext cx="2423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66150"/>
                </a:solidFill>
                <a:latin typeface="Calibri"/>
              </a:rPr>
              <a:t>One-tap "I just reset 🧠" post-session.
Hypothesis: K-factor &gt; 1.0 in study community channels.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2688336"/>
            <a:ext cx="8869680" cy="18288"/>
          </a:xfrm>
          <a:prstGeom prst="rect">
            <a:avLst/>
          </a:prstGeom>
          <a:solidFill>
            <a:srgbClr val="D7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873</Words>
  <Application>Microsoft Office PowerPoint</Application>
  <PresentationFormat>Custom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Siddharth Kumar Mishra</cp:lastModifiedBy>
  <cp:revision>3</cp:revision>
  <dcterms:created xsi:type="dcterms:W3CDTF">2013-01-27T09:14:16Z</dcterms:created>
  <dcterms:modified xsi:type="dcterms:W3CDTF">2026-08-31T17:10:04Z</dcterms:modified>
  <cp:category/>
</cp:coreProperties>
</file>